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 will present my mini project titled 'Undo and Redo Text Editor', built in C++ using the Stack data structure. This is a small, console-based academic project meant to demonstrate how undo/redo works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text editor is any program used to type and edit text. Since mistakes are common, most editors provide Undo and Redo options. Our project focuses on implementing exactly these two features using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are simple: understand the stack data structure, build a working editor, implement undo/redo with two stacks, understand LIFO, and practice clean C++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study stacks only as theory. This project solves that gap by applying stacks to a relatable, real problem: undo and redo in a text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follows LIFO - last in, first out. The three key operations are push, pop, and top/peek. On the right you can see an example undo stack holding previous text states, with the most recent state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undo stack stores earlier text states, and the redo stack stores states that were undone. Undo moves the current state to the redo stack and restores the top of the undo stack. Redo does the exact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starts by initializing empty text and stacks, then loops through a menu. Adding text pushes the old state to the undo stack; undo and redo move states between the two stacks as explained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organized as one class, TextEditor, with five member functions: addText, clearText, undo, redo, and display. The main function runs a simple menu loop that calls these functions based on user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sample console run: text is added, then undo restores the previous shorter text, and redo brings back the longer text. Actual screenshots should replace this in the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demonstrates a practical use of the stack data structure to implement undo and redo. Thank you, and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7040880" y="-1188720"/>
            <a:ext cx="3657600" cy="3657600"/>
          </a:xfrm>
          <a:prstGeom prst="ellipse">
            <a:avLst/>
          </a:prstGeom>
          <a:solidFill>
            <a:srgbClr val="028090">
              <a:alpha val="45000"/>
            </a:srgbClr>
          </a:solidFill>
          <a:ln/>
        </p:spPr>
      </p:sp>
      <p:sp>
        <p:nvSpPr>
          <p:cNvPr id="3" name="Shape 1"/>
          <p:cNvSpPr/>
          <p:nvPr/>
        </p:nvSpPr>
        <p:spPr>
          <a:xfrm>
            <a:off x="-1280160" y="3291840"/>
            <a:ext cx="3108960" cy="3108960"/>
          </a:xfrm>
          <a:prstGeom prst="ellipse">
            <a:avLst/>
          </a:prstGeom>
          <a:solidFill>
            <a:srgbClr val="00A896">
              <a:alpha val="40000"/>
            </a:srgbClr>
          </a:solidFill>
          <a:ln/>
        </p:spPr>
      </p:sp>
      <p:sp>
        <p:nvSpPr>
          <p:cNvPr id="4" name="Shape 2"/>
          <p:cNvSpPr/>
          <p:nvPr/>
        </p:nvSpPr>
        <p:spPr>
          <a:xfrm>
            <a:off x="4114800" y="914400"/>
            <a:ext cx="914400" cy="91440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4233672" y="1033272"/>
            <a:ext cx="676656" cy="676656"/>
          </a:xfrm>
          <a:prstGeom prst="rect">
            <a:avLst/>
          </a:prstGeom>
        </p:spPr>
      </p:pic>
      <p:sp>
        <p:nvSpPr>
          <p:cNvPr id="6" name="Text 3"/>
          <p:cNvSpPr/>
          <p:nvPr/>
        </p:nvSpPr>
        <p:spPr>
          <a:xfrm>
            <a:off x="548640" y="2057400"/>
            <a:ext cx="8046720"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UNDO AND REDO TEXT EDITOR</a:t>
            </a:r>
            <a:endParaRPr lang="en-US" sz="3400" dirty="0"/>
          </a:p>
        </p:txBody>
      </p:sp>
      <p:sp>
        <p:nvSpPr>
          <p:cNvPr id="7" name="Text 4"/>
          <p:cNvSpPr/>
          <p:nvPr/>
        </p:nvSpPr>
        <p:spPr>
          <a:xfrm>
            <a:off x="548640" y="2697480"/>
            <a:ext cx="8046720" cy="457200"/>
          </a:xfrm>
          <a:prstGeom prst="rect">
            <a:avLst/>
          </a:prstGeom>
          <a:noFill/>
          <a:ln/>
        </p:spPr>
        <p:txBody>
          <a:bodyPr wrap="square" lIns="0" tIns="0" rIns="0" bIns="0" rtlCol="0" anchor="ctr"/>
          <a:lstStyle/>
          <a:p>
            <a:pPr algn="ctr" indent="0" marL="0">
              <a:buNone/>
            </a:pPr>
            <a:r>
              <a:rPr lang="en-US" sz="1700" i="1" dirty="0">
                <a:solidFill>
                  <a:srgbClr val="BFEFE9"/>
                </a:solidFill>
                <a:latin typeface="Calibri" pitchFamily="34" charset="0"/>
                <a:ea typeface="Calibri" pitchFamily="34" charset="-122"/>
                <a:cs typeface="Calibri" pitchFamily="34" charset="-120"/>
              </a:rPr>
              <a:t>A Stack-Based Console Application in C++</a:t>
            </a:r>
            <a:endParaRPr lang="en-US" sz="1700" dirty="0"/>
          </a:p>
        </p:txBody>
      </p:sp>
      <p:sp>
        <p:nvSpPr>
          <p:cNvPr id="8" name="Text 5"/>
          <p:cNvSpPr/>
          <p:nvPr/>
        </p:nvSpPr>
        <p:spPr>
          <a:xfrm>
            <a:off x="548640" y="3566160"/>
            <a:ext cx="80467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Presented by: </a:t>
            </a:r>
            <a:pPr algn="ctr" indent="0" marL="0">
              <a:buNone/>
            </a:pPr>
            <a:r>
              <a:rPr lang="en-US" sz="1400" dirty="0">
                <a:solidFill>
                  <a:srgbClr val="FFFFFF"/>
                </a:solidFill>
                <a:latin typeface="Calibri" pitchFamily="34" charset="0"/>
                <a:ea typeface="Calibri" pitchFamily="34" charset="-122"/>
                <a:cs typeface="Calibri" pitchFamily="34" charset="-120"/>
              </a:rPr>
              <a:t>[Student Name]  |  [Roll Number]</a:t>
            </a:r>
            <a:endParaRPr lang="en-US" sz="1400" dirty="0"/>
          </a:p>
        </p:txBody>
      </p:sp>
      <p:sp>
        <p:nvSpPr>
          <p:cNvPr id="9" name="Text 6"/>
          <p:cNvSpPr/>
          <p:nvPr/>
        </p:nvSpPr>
        <p:spPr>
          <a:xfrm>
            <a:off x="548640" y="3977640"/>
            <a:ext cx="8046720" cy="365760"/>
          </a:xfrm>
          <a:prstGeom prst="rect">
            <a:avLst/>
          </a:prstGeom>
          <a:noFill/>
          <a:ln/>
        </p:spPr>
        <p:txBody>
          <a:bodyPr wrap="square" lIns="0" tIns="0" rIns="0" bIns="0" rtlCol="0" anchor="ctr"/>
          <a:lstStyle/>
          <a:p>
            <a:pPr algn="ctr" indent="0" marL="0">
              <a:buNone/>
            </a:pPr>
            <a:r>
              <a:rPr lang="en-US" sz="1200" dirty="0">
                <a:solidFill>
                  <a:srgbClr val="8FD4CC"/>
                </a:solidFill>
                <a:latin typeface="Calibri" pitchFamily="34" charset="0"/>
                <a:ea typeface="Calibri" pitchFamily="34" charset="-122"/>
                <a:cs typeface="Calibri" pitchFamily="34" charset="-120"/>
              </a:rPr>
              <a:t>[Department Name]  |  [College Name]  |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C2B2B"/>
                </a:solidFill>
                <a:latin typeface="Cambria" pitchFamily="34" charset="0"/>
                <a:ea typeface="Cambria" pitchFamily="34" charset="-122"/>
                <a:cs typeface="Cambria" pitchFamily="34" charset="-120"/>
              </a:rPr>
              <a:t>Introduction</a:t>
            </a:r>
            <a:endParaRPr lang="en-US" sz="3000" dirty="0"/>
          </a:p>
        </p:txBody>
      </p:sp>
      <p:sp>
        <p:nvSpPr>
          <p:cNvPr id="3" name="Shape 1"/>
          <p:cNvSpPr/>
          <p:nvPr/>
        </p:nvSpPr>
        <p:spPr>
          <a:xfrm>
            <a:off x="548640" y="1554480"/>
            <a:ext cx="777240" cy="77724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649681" y="1655521"/>
            <a:ext cx="575158" cy="575158"/>
          </a:xfrm>
          <a:prstGeom prst="rect">
            <a:avLst/>
          </a:prstGeom>
        </p:spPr>
      </p:pic>
      <p:sp>
        <p:nvSpPr>
          <p:cNvPr id="5" name="Text 2"/>
          <p:cNvSpPr/>
          <p:nvPr/>
        </p:nvSpPr>
        <p:spPr>
          <a:xfrm>
            <a:off x="1600200" y="1463040"/>
            <a:ext cx="6858000" cy="3017520"/>
          </a:xfrm>
          <a:prstGeom prst="rect">
            <a:avLst/>
          </a:prstGeom>
          <a:noFill/>
          <a:ln/>
        </p:spPr>
        <p:txBody>
          <a:bodyPr wrap="square" rtlCol="0" anchor="t"/>
          <a:lstStyle/>
          <a:p>
            <a:pPr marL="342900" indent="-342900">
              <a:spcAft>
                <a:spcPts val="1400"/>
              </a:spcAft>
              <a:buSzPct val="100000"/>
              <a:buChar char="•"/>
            </a:pPr>
            <a:r>
              <a:rPr lang="en-US" sz="1600" dirty="0">
                <a:solidFill>
                  <a:srgbClr val="1C2B2B"/>
                </a:solidFill>
                <a:latin typeface="Calibri" pitchFamily="34" charset="0"/>
                <a:ea typeface="Calibri" pitchFamily="34" charset="-122"/>
                <a:cs typeface="Calibri" pitchFamily="34" charset="-120"/>
              </a:rPr>
              <a:t>A text editor lets users type, edit, and manage text.</a:t>
            </a:r>
            <a:endParaRPr lang="en-US" sz="1600" dirty="0"/>
          </a:p>
          <a:p>
            <a:pPr marL="342900" indent="-342900">
              <a:spcAft>
                <a:spcPts val="1400"/>
              </a:spcAft>
              <a:buSzPct val="100000"/>
              <a:buChar char="•"/>
            </a:pPr>
            <a:r>
              <a:rPr lang="en-US" sz="1600" dirty="0">
                <a:solidFill>
                  <a:srgbClr val="1C2B2B"/>
                </a:solidFill>
                <a:latin typeface="Calibri" pitchFamily="34" charset="0"/>
                <a:ea typeface="Calibri" pitchFamily="34" charset="-122"/>
                <a:cs typeface="Calibri" pitchFamily="34" charset="-120"/>
              </a:rPr>
              <a:t>Mistakes while typing are common and need to be corrected.</a:t>
            </a:r>
            <a:endParaRPr lang="en-US" sz="1600" dirty="0"/>
          </a:p>
          <a:p>
            <a:pPr marL="342900" indent="-342900">
              <a:spcAft>
                <a:spcPts val="1400"/>
              </a:spcAft>
              <a:buSzPct val="100000"/>
              <a:buChar char="•"/>
            </a:pPr>
            <a:r>
              <a:rPr lang="en-US" sz="1600" dirty="0">
                <a:solidFill>
                  <a:srgbClr val="1C2B2B"/>
                </a:solidFill>
                <a:latin typeface="Calibri" pitchFamily="34" charset="0"/>
                <a:ea typeface="Calibri" pitchFamily="34" charset="-122"/>
                <a:cs typeface="Calibri" pitchFamily="34" charset="-120"/>
              </a:rPr>
              <a:t>Most editors solve this with two features: Undo and Redo.</a:t>
            </a:r>
            <a:endParaRPr lang="en-US" sz="1600" dirty="0"/>
          </a:p>
          <a:p>
            <a:pPr marL="342900" indent="-342900">
              <a:spcAft>
                <a:spcPts val="1400"/>
              </a:spcAft>
              <a:buSzPct val="100000"/>
              <a:buChar char="•"/>
            </a:pPr>
            <a:r>
              <a:rPr lang="en-US" sz="1600" dirty="0">
                <a:solidFill>
                  <a:srgbClr val="1C2B2B"/>
                </a:solidFill>
                <a:latin typeface="Calibri" pitchFamily="34" charset="0"/>
                <a:ea typeface="Calibri" pitchFamily="34" charset="-122"/>
                <a:cs typeface="Calibri" pitchFamily="34" charset="-120"/>
              </a:rPr>
              <a:t>This project builds a simple console-based editor in C++ to demonstrate exactly how these two features work internally.</a:t>
            </a:r>
            <a:endParaRPr lang="en-US" sz="1600" dirty="0"/>
          </a:p>
        </p:txBody>
      </p:sp>
      <p:sp>
        <p:nvSpPr>
          <p:cNvPr id="6" name="Text 3"/>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C2B2B"/>
                </a:solidFill>
                <a:latin typeface="Cambria" pitchFamily="34" charset="0"/>
                <a:ea typeface="Cambria" pitchFamily="34" charset="-122"/>
                <a:cs typeface="Cambria" pitchFamily="34" charset="-120"/>
              </a:rPr>
              <a:t>Objective</a:t>
            </a:r>
            <a:endParaRPr lang="en-US" sz="3000" dirty="0"/>
          </a:p>
        </p:txBody>
      </p:sp>
      <p:sp>
        <p:nvSpPr>
          <p:cNvPr id="3" name="Shape 1"/>
          <p:cNvSpPr/>
          <p:nvPr/>
        </p:nvSpPr>
        <p:spPr>
          <a:xfrm>
            <a:off x="548640" y="1417320"/>
            <a:ext cx="8046720" cy="566928"/>
          </a:xfrm>
          <a:prstGeom prst="roundRect">
            <a:avLst>
              <a:gd name="adj" fmla="val 12903"/>
            </a:avLst>
          </a:prstGeom>
          <a:solidFill>
            <a:srgbClr val="EAF7F5"/>
          </a:solidFill>
          <a:ln/>
        </p:spPr>
      </p:sp>
      <p:sp>
        <p:nvSpPr>
          <p:cNvPr id="4" name="Text 2"/>
          <p:cNvSpPr/>
          <p:nvPr/>
        </p:nvSpPr>
        <p:spPr>
          <a:xfrm>
            <a:off x="685800" y="1472184"/>
            <a:ext cx="457200" cy="457200"/>
          </a:xfrm>
          <a:prstGeom prst="rect">
            <a:avLst/>
          </a:prstGeom>
          <a:noFill/>
          <a:ln/>
        </p:spPr>
        <p:txBody>
          <a:bodyPr wrap="square" rtlCol="0" anchor="ctr"/>
          <a:lstStyle/>
          <a:p>
            <a:pPr algn="ctr" indent="0" marL="0">
              <a:buNone/>
            </a:pPr>
            <a:r>
              <a:rPr lang="en-US" sz="1800" b="1" dirty="0">
                <a:solidFill>
                  <a:srgbClr val="028090"/>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280160" y="1417320"/>
            <a:ext cx="7132320" cy="566928"/>
          </a:xfrm>
          <a:prstGeom prst="rect">
            <a:avLst/>
          </a:prstGeom>
          <a:noFill/>
          <a:ln/>
        </p:spPr>
        <p:txBody>
          <a:bodyPr wrap="square" lIns="0" tIns="0" rIns="0" bIns="0" rtlCol="0" anchor="ctr"/>
          <a:lstStyle/>
          <a:p>
            <a:pPr indent="0" marL="0">
              <a:buNone/>
            </a:pPr>
            <a:r>
              <a:rPr lang="en-US" sz="1500" dirty="0">
                <a:solidFill>
                  <a:srgbClr val="1C2B2B"/>
                </a:solidFill>
                <a:latin typeface="Calibri" pitchFamily="34" charset="0"/>
                <a:ea typeface="Calibri" pitchFamily="34" charset="-122"/>
                <a:cs typeface="Calibri" pitchFamily="34" charset="-120"/>
              </a:rPr>
              <a:t>Understand and apply the Stack data structure practically</a:t>
            </a:r>
            <a:endParaRPr lang="en-US" sz="1500" dirty="0"/>
          </a:p>
        </p:txBody>
      </p:sp>
      <p:sp>
        <p:nvSpPr>
          <p:cNvPr id="6" name="Shape 4"/>
          <p:cNvSpPr/>
          <p:nvPr/>
        </p:nvSpPr>
        <p:spPr>
          <a:xfrm>
            <a:off x="548640" y="2075688"/>
            <a:ext cx="8046720" cy="566928"/>
          </a:xfrm>
          <a:prstGeom prst="roundRect">
            <a:avLst>
              <a:gd name="adj" fmla="val 12903"/>
            </a:avLst>
          </a:prstGeom>
          <a:solidFill>
            <a:srgbClr val="F4FBFA"/>
          </a:solidFill>
          <a:ln/>
        </p:spPr>
      </p:sp>
      <p:sp>
        <p:nvSpPr>
          <p:cNvPr id="7" name="Text 5"/>
          <p:cNvSpPr/>
          <p:nvPr/>
        </p:nvSpPr>
        <p:spPr>
          <a:xfrm>
            <a:off x="685800" y="2130552"/>
            <a:ext cx="457200" cy="457200"/>
          </a:xfrm>
          <a:prstGeom prst="rect">
            <a:avLst/>
          </a:prstGeom>
          <a:noFill/>
          <a:ln/>
        </p:spPr>
        <p:txBody>
          <a:bodyPr wrap="square" rtlCol="0" anchor="ctr"/>
          <a:lstStyle/>
          <a:p>
            <a:pPr algn="ctr" indent="0" marL="0">
              <a:buNone/>
            </a:pPr>
            <a:r>
              <a:rPr lang="en-US" sz="1800" b="1" dirty="0">
                <a:solidFill>
                  <a:srgbClr val="028090"/>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280160" y="2075688"/>
            <a:ext cx="7132320" cy="566928"/>
          </a:xfrm>
          <a:prstGeom prst="rect">
            <a:avLst/>
          </a:prstGeom>
          <a:noFill/>
          <a:ln/>
        </p:spPr>
        <p:txBody>
          <a:bodyPr wrap="square" lIns="0" tIns="0" rIns="0" bIns="0" rtlCol="0" anchor="ctr"/>
          <a:lstStyle/>
          <a:p>
            <a:pPr indent="0" marL="0">
              <a:buNone/>
            </a:pPr>
            <a:r>
              <a:rPr lang="en-US" sz="1500" dirty="0">
                <a:solidFill>
                  <a:srgbClr val="1C2B2B"/>
                </a:solidFill>
                <a:latin typeface="Calibri" pitchFamily="34" charset="0"/>
                <a:ea typeface="Calibri" pitchFamily="34" charset="-122"/>
                <a:cs typeface="Calibri" pitchFamily="34" charset="-120"/>
              </a:rPr>
              <a:t>Build a simple console-based text editor in C++</a:t>
            </a:r>
            <a:endParaRPr lang="en-US" sz="1500" dirty="0"/>
          </a:p>
        </p:txBody>
      </p:sp>
      <p:sp>
        <p:nvSpPr>
          <p:cNvPr id="9" name="Shape 7"/>
          <p:cNvSpPr/>
          <p:nvPr/>
        </p:nvSpPr>
        <p:spPr>
          <a:xfrm>
            <a:off x="548640" y="2734056"/>
            <a:ext cx="8046720" cy="566928"/>
          </a:xfrm>
          <a:prstGeom prst="roundRect">
            <a:avLst>
              <a:gd name="adj" fmla="val 12903"/>
            </a:avLst>
          </a:prstGeom>
          <a:solidFill>
            <a:srgbClr val="EAF7F5"/>
          </a:solidFill>
          <a:ln/>
        </p:spPr>
      </p:sp>
      <p:sp>
        <p:nvSpPr>
          <p:cNvPr id="10" name="Text 8"/>
          <p:cNvSpPr/>
          <p:nvPr/>
        </p:nvSpPr>
        <p:spPr>
          <a:xfrm>
            <a:off x="685800" y="2788920"/>
            <a:ext cx="457200" cy="457200"/>
          </a:xfrm>
          <a:prstGeom prst="rect">
            <a:avLst/>
          </a:prstGeom>
          <a:noFill/>
          <a:ln/>
        </p:spPr>
        <p:txBody>
          <a:bodyPr wrap="square" rtlCol="0" anchor="ctr"/>
          <a:lstStyle/>
          <a:p>
            <a:pPr algn="ctr" indent="0" marL="0">
              <a:buNone/>
            </a:pPr>
            <a:r>
              <a:rPr lang="en-US" sz="1800" b="1" dirty="0">
                <a:solidFill>
                  <a:srgbClr val="028090"/>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280160" y="2734056"/>
            <a:ext cx="7132320" cy="566928"/>
          </a:xfrm>
          <a:prstGeom prst="rect">
            <a:avLst/>
          </a:prstGeom>
          <a:noFill/>
          <a:ln/>
        </p:spPr>
        <p:txBody>
          <a:bodyPr wrap="square" lIns="0" tIns="0" rIns="0" bIns="0" rtlCol="0" anchor="ctr"/>
          <a:lstStyle/>
          <a:p>
            <a:pPr indent="0" marL="0">
              <a:buNone/>
            </a:pPr>
            <a:r>
              <a:rPr lang="en-US" sz="1500" dirty="0">
                <a:solidFill>
                  <a:srgbClr val="1C2B2B"/>
                </a:solidFill>
                <a:latin typeface="Calibri" pitchFamily="34" charset="0"/>
                <a:ea typeface="Calibri" pitchFamily="34" charset="-122"/>
                <a:cs typeface="Calibri" pitchFamily="34" charset="-120"/>
              </a:rPr>
              <a:t>Implement Undo and Redo using two stacks</a:t>
            </a:r>
            <a:endParaRPr lang="en-US" sz="1500" dirty="0"/>
          </a:p>
        </p:txBody>
      </p:sp>
      <p:sp>
        <p:nvSpPr>
          <p:cNvPr id="12" name="Shape 10"/>
          <p:cNvSpPr/>
          <p:nvPr/>
        </p:nvSpPr>
        <p:spPr>
          <a:xfrm>
            <a:off x="548640" y="3392424"/>
            <a:ext cx="8046720" cy="566928"/>
          </a:xfrm>
          <a:prstGeom prst="roundRect">
            <a:avLst>
              <a:gd name="adj" fmla="val 12903"/>
            </a:avLst>
          </a:prstGeom>
          <a:solidFill>
            <a:srgbClr val="F4FBFA"/>
          </a:solidFill>
          <a:ln/>
        </p:spPr>
      </p:sp>
      <p:sp>
        <p:nvSpPr>
          <p:cNvPr id="13" name="Text 11"/>
          <p:cNvSpPr/>
          <p:nvPr/>
        </p:nvSpPr>
        <p:spPr>
          <a:xfrm>
            <a:off x="685800" y="3447288"/>
            <a:ext cx="457200" cy="457200"/>
          </a:xfrm>
          <a:prstGeom prst="rect">
            <a:avLst/>
          </a:prstGeom>
          <a:noFill/>
          <a:ln/>
        </p:spPr>
        <p:txBody>
          <a:bodyPr wrap="square" rtlCol="0" anchor="ctr"/>
          <a:lstStyle/>
          <a:p>
            <a:pPr algn="ctr" indent="0" marL="0">
              <a:buNone/>
            </a:pPr>
            <a:r>
              <a:rPr lang="en-US" sz="1800" b="1" dirty="0">
                <a:solidFill>
                  <a:srgbClr val="028090"/>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280160" y="3392424"/>
            <a:ext cx="7132320" cy="566928"/>
          </a:xfrm>
          <a:prstGeom prst="rect">
            <a:avLst/>
          </a:prstGeom>
          <a:noFill/>
          <a:ln/>
        </p:spPr>
        <p:txBody>
          <a:bodyPr wrap="square" lIns="0" tIns="0" rIns="0" bIns="0" rtlCol="0" anchor="ctr"/>
          <a:lstStyle/>
          <a:p>
            <a:pPr indent="0" marL="0">
              <a:buNone/>
            </a:pPr>
            <a:r>
              <a:rPr lang="en-US" sz="1500" dirty="0">
                <a:solidFill>
                  <a:srgbClr val="1C2B2B"/>
                </a:solidFill>
                <a:latin typeface="Calibri" pitchFamily="34" charset="0"/>
                <a:ea typeface="Calibri" pitchFamily="34" charset="-122"/>
                <a:cs typeface="Calibri" pitchFamily="34" charset="-120"/>
              </a:rPr>
              <a:t>Strengthen understanding of LIFO behaviour</a:t>
            </a:r>
            <a:endParaRPr lang="en-US" sz="1500" dirty="0"/>
          </a:p>
        </p:txBody>
      </p:sp>
      <p:sp>
        <p:nvSpPr>
          <p:cNvPr id="15" name="Shape 13"/>
          <p:cNvSpPr/>
          <p:nvPr/>
        </p:nvSpPr>
        <p:spPr>
          <a:xfrm>
            <a:off x="548640" y="4050792"/>
            <a:ext cx="8046720" cy="566928"/>
          </a:xfrm>
          <a:prstGeom prst="roundRect">
            <a:avLst>
              <a:gd name="adj" fmla="val 12903"/>
            </a:avLst>
          </a:prstGeom>
          <a:solidFill>
            <a:srgbClr val="EAF7F5"/>
          </a:solidFill>
          <a:ln/>
        </p:spPr>
      </p:sp>
      <p:sp>
        <p:nvSpPr>
          <p:cNvPr id="16" name="Text 14"/>
          <p:cNvSpPr/>
          <p:nvPr/>
        </p:nvSpPr>
        <p:spPr>
          <a:xfrm>
            <a:off x="685800" y="4105656"/>
            <a:ext cx="457200" cy="457200"/>
          </a:xfrm>
          <a:prstGeom prst="rect">
            <a:avLst/>
          </a:prstGeom>
          <a:noFill/>
          <a:ln/>
        </p:spPr>
        <p:txBody>
          <a:bodyPr wrap="square" rtlCol="0" anchor="ctr"/>
          <a:lstStyle/>
          <a:p>
            <a:pPr algn="ctr" indent="0" marL="0">
              <a:buNone/>
            </a:pPr>
            <a:r>
              <a:rPr lang="en-US" sz="1800" b="1" dirty="0">
                <a:solidFill>
                  <a:srgbClr val="028090"/>
                </a:solidFill>
                <a:latin typeface="Calibri" pitchFamily="34" charset="0"/>
                <a:ea typeface="Calibri" pitchFamily="34" charset="-122"/>
                <a:cs typeface="Calibri" pitchFamily="34" charset="-120"/>
              </a:rPr>
              <a:t>5</a:t>
            </a:r>
            <a:endParaRPr lang="en-US" sz="1800" dirty="0"/>
          </a:p>
        </p:txBody>
      </p:sp>
      <p:sp>
        <p:nvSpPr>
          <p:cNvPr id="17" name="Text 15"/>
          <p:cNvSpPr/>
          <p:nvPr/>
        </p:nvSpPr>
        <p:spPr>
          <a:xfrm>
            <a:off x="1280160" y="4050792"/>
            <a:ext cx="7132320" cy="566928"/>
          </a:xfrm>
          <a:prstGeom prst="rect">
            <a:avLst/>
          </a:prstGeom>
          <a:noFill/>
          <a:ln/>
        </p:spPr>
        <p:txBody>
          <a:bodyPr wrap="square" lIns="0" tIns="0" rIns="0" bIns="0" rtlCol="0" anchor="ctr"/>
          <a:lstStyle/>
          <a:p>
            <a:pPr indent="0" marL="0">
              <a:buNone/>
            </a:pPr>
            <a:r>
              <a:rPr lang="en-US" sz="1500" dirty="0">
                <a:solidFill>
                  <a:srgbClr val="1C2B2B"/>
                </a:solidFill>
                <a:latin typeface="Calibri" pitchFamily="34" charset="0"/>
                <a:ea typeface="Calibri" pitchFamily="34" charset="-122"/>
                <a:cs typeface="Calibri" pitchFamily="34" charset="-120"/>
              </a:rPr>
              <a:t>Practice writing clean, modular, commented C++ code</a:t>
            </a:r>
            <a:endParaRPr lang="en-US" sz="1500" dirty="0"/>
          </a:p>
        </p:txBody>
      </p:sp>
      <p:sp>
        <p:nvSpPr>
          <p:cNvPr id="18" name="Text 16"/>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C2B2B"/>
                </a:solidFill>
                <a:latin typeface="Cambria" pitchFamily="34" charset="0"/>
                <a:ea typeface="Cambria" pitchFamily="34" charset="-122"/>
                <a:cs typeface="Cambria" pitchFamily="34" charset="-120"/>
              </a:rPr>
              <a:t>Problem Statement</a:t>
            </a:r>
            <a:endParaRPr lang="en-US" sz="3000" dirty="0"/>
          </a:p>
        </p:txBody>
      </p:sp>
      <p:sp>
        <p:nvSpPr>
          <p:cNvPr id="3" name="Shape 1"/>
          <p:cNvSpPr/>
          <p:nvPr/>
        </p:nvSpPr>
        <p:spPr>
          <a:xfrm>
            <a:off x="548640" y="1737360"/>
            <a:ext cx="822960" cy="822960"/>
          </a:xfrm>
          <a:prstGeom prst="ellipse">
            <a:avLst/>
          </a:prstGeom>
          <a:solidFill>
            <a:srgbClr val="00A896"/>
          </a:solidFill>
          <a:ln/>
        </p:spPr>
      </p:sp>
      <p:pic>
        <p:nvPicPr>
          <p:cNvPr id="4" name="Image 0" descr="preencoded.png">    </p:cNvPr>
          <p:cNvPicPr>
            <a:picLocks noChangeAspect="1"/>
          </p:cNvPicPr>
          <p:nvPr/>
        </p:nvPicPr>
        <p:blipFill>
          <a:blip r:embed="rId1"/>
          <a:stretch>
            <a:fillRect/>
          </a:stretch>
        </p:blipFill>
        <p:spPr>
          <a:xfrm>
            <a:off x="655625" y="1844345"/>
            <a:ext cx="608990" cy="608990"/>
          </a:xfrm>
          <a:prstGeom prst="rect">
            <a:avLst/>
          </a:prstGeom>
        </p:spPr>
      </p:pic>
      <p:sp>
        <p:nvSpPr>
          <p:cNvPr id="5" name="Shape 2"/>
          <p:cNvSpPr/>
          <p:nvPr/>
        </p:nvSpPr>
        <p:spPr>
          <a:xfrm>
            <a:off x="1600200" y="1371600"/>
            <a:ext cx="7040880" cy="2743200"/>
          </a:xfrm>
          <a:prstGeom prst="roundRect">
            <a:avLst>
              <a:gd name="adj" fmla="val 2000"/>
            </a:avLst>
          </a:prstGeom>
          <a:solidFill>
            <a:srgbClr val="F4FBFA"/>
          </a:solidFill>
          <a:ln/>
          <a:effectLst>
            <a:outerShdw sx="100000" sy="100000" kx="0" ky="0" algn="bl" rotWithShape="0" blurRad="101600" dist="38100" dir="2700000">
              <a:srgbClr val="000000">
                <a:alpha val="10000"/>
              </a:srgbClr>
            </a:outerShdw>
          </a:effectLst>
        </p:spPr>
      </p:sp>
      <p:sp>
        <p:nvSpPr>
          <p:cNvPr id="6" name="Text 3"/>
          <p:cNvSpPr/>
          <p:nvPr/>
        </p:nvSpPr>
        <p:spPr>
          <a:xfrm>
            <a:off x="1828800" y="1600200"/>
            <a:ext cx="6583680" cy="2286000"/>
          </a:xfrm>
          <a:prstGeom prst="rect">
            <a:avLst/>
          </a:prstGeom>
          <a:noFill/>
          <a:ln/>
        </p:spPr>
        <p:txBody>
          <a:bodyPr wrap="square" rtlCol="0" anchor="t"/>
          <a:lstStyle/>
          <a:p>
            <a:pPr indent="0" marL="0">
              <a:buNone/>
            </a:pPr>
            <a:r>
              <a:rPr lang="en-US" sz="1550" dirty="0">
                <a:solidFill>
                  <a:srgbClr val="1C2B2B"/>
                </a:solidFill>
                <a:latin typeface="Calibri" pitchFamily="34" charset="0"/>
                <a:ea typeface="Calibri" pitchFamily="34" charset="-122"/>
                <a:cs typeface="Calibri" pitchFamily="34" charset="-120"/>
              </a:rPr>
              <a:t>Beginners often learn the Stack data structure only in theory, without seeing it used in a real, everyday problem.</a:t>
            </a:r>
            <a:endParaRPr lang="en-US" sz="1550" dirty="0"/>
          </a:p>
          <a:p>
            <a:pPr indent="0" marL="0">
              <a:buNone/>
            </a:pPr>
            <a:endParaRPr lang="en-US" sz="1550" dirty="0"/>
          </a:p>
          <a:p>
            <a:pPr indent="0" marL="0">
              <a:buNone/>
            </a:pPr>
            <a:r>
              <a:rPr lang="en-US" sz="1550" dirty="0">
                <a:solidFill>
                  <a:srgbClr val="1C2B2B"/>
                </a:solidFill>
                <a:latin typeface="Calibri" pitchFamily="34" charset="0"/>
                <a:ea typeface="Calibri" pitchFamily="34" charset="-122"/>
                <a:cs typeface="Calibri" pitchFamily="34" charset="-120"/>
              </a:rPr>
              <a:t>There is a need for a small project that clearly shows how a stack can track previous versions of data - so that changes can be undone and redone - using an example every student can relate to: a text editor.</a:t>
            </a:r>
            <a:endParaRPr lang="en-US" sz="1550" dirty="0"/>
          </a:p>
        </p:txBody>
      </p:sp>
      <p:sp>
        <p:nvSpPr>
          <p:cNvPr id="7" name="Text 4"/>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C2B2B"/>
                </a:solidFill>
                <a:latin typeface="Cambria" pitchFamily="34" charset="0"/>
                <a:ea typeface="Cambria" pitchFamily="34" charset="-122"/>
                <a:cs typeface="Cambria" pitchFamily="34" charset="-120"/>
              </a:rPr>
              <a:t>Stack Concept (LIFO)</a:t>
            </a:r>
            <a:endParaRPr lang="en-US" sz="3000" dirty="0"/>
          </a:p>
        </p:txBody>
      </p:sp>
      <p:sp>
        <p:nvSpPr>
          <p:cNvPr id="3" name="Text 1"/>
          <p:cNvSpPr/>
          <p:nvPr/>
        </p:nvSpPr>
        <p:spPr>
          <a:xfrm>
            <a:off x="548640" y="1417320"/>
            <a:ext cx="4114800" cy="640080"/>
          </a:xfrm>
          <a:prstGeom prst="rect">
            <a:avLst/>
          </a:prstGeom>
          <a:noFill/>
          <a:ln/>
        </p:spPr>
        <p:txBody>
          <a:bodyPr wrap="square" rtlCol="0" anchor="t"/>
          <a:lstStyle/>
          <a:p>
            <a:pPr indent="0" marL="0">
              <a:buNone/>
            </a:pPr>
            <a:r>
              <a:rPr lang="en-US" sz="1500" dirty="0">
                <a:solidFill>
                  <a:srgbClr val="000000"/>
                </a:solidFill>
                <a:latin typeface="Calibri" pitchFamily="34" charset="0"/>
                <a:ea typeface="Calibri" pitchFamily="34" charset="-122"/>
                <a:cs typeface="Calibri" pitchFamily="34" charset="-120"/>
              </a:rPr>
              <a:t>Stack = linear data structure following </a:t>
            </a:r>
            <a:pPr indent="0" marL="0">
              <a:buNone/>
            </a:pPr>
            <a:r>
              <a:rPr lang="en-US" sz="1500" b="1" dirty="0">
                <a:solidFill>
                  <a:srgbClr val="028090"/>
                </a:solidFill>
                <a:latin typeface="Calibri" pitchFamily="34" charset="0"/>
                <a:ea typeface="Calibri" pitchFamily="34" charset="-122"/>
                <a:cs typeface="Calibri" pitchFamily="34" charset="-120"/>
              </a:rPr>
              <a:t>Last In, First Out (LIFO)</a:t>
            </a:r>
            <a:pPr indent="0" marL="0">
              <a:buNone/>
            </a:pPr>
            <a:r>
              <a:rPr lang="en-US" sz="1500" dirty="0">
                <a:solidFill>
                  <a:srgbClr val="000000"/>
                </a:solidFill>
                <a:latin typeface="Calibri" pitchFamily="34" charset="0"/>
                <a:ea typeface="Calibri" pitchFamily="34" charset="-122"/>
                <a:cs typeface="Calibri" pitchFamily="34" charset="-120"/>
              </a:rPr>
              <a:t>.</a:t>
            </a:r>
            <a:endParaRPr lang="en-US" sz="1500" dirty="0"/>
          </a:p>
        </p:txBody>
      </p:sp>
      <p:sp>
        <p:nvSpPr>
          <p:cNvPr id="4" name="Text 2"/>
          <p:cNvSpPr/>
          <p:nvPr/>
        </p:nvSpPr>
        <p:spPr>
          <a:xfrm>
            <a:off x="548640" y="2148840"/>
            <a:ext cx="4023360" cy="2468880"/>
          </a:xfrm>
          <a:prstGeom prst="rect">
            <a:avLst/>
          </a:prstGeom>
          <a:noFill/>
          <a:ln/>
        </p:spPr>
        <p:txBody>
          <a:bodyPr wrap="square" rtlCol="0" anchor="t"/>
          <a:lstStyle/>
          <a:p>
            <a:pPr indent="0" marL="0">
              <a:buNone/>
            </a:pPr>
            <a:r>
              <a:rPr lang="en-US" sz="1500" b="1" dirty="0">
                <a:solidFill>
                  <a:srgbClr val="1C2B2B"/>
                </a:solidFill>
                <a:latin typeface="Calibri" pitchFamily="34" charset="0"/>
                <a:ea typeface="Calibri" pitchFamily="34" charset="-122"/>
                <a:cs typeface="Calibri" pitchFamily="34" charset="-120"/>
              </a:rPr>
              <a:t>Push</a:t>
            </a:r>
            <a:endParaRPr lang="en-US" sz="1500" dirty="0"/>
          </a:p>
          <a:p>
            <a:pPr indent="0" marL="0">
              <a:buNone/>
            </a:pPr>
            <a:r>
              <a:rPr lang="en-US" sz="1300" dirty="0">
                <a:solidFill>
                  <a:srgbClr val="5B6E6E"/>
                </a:solidFill>
                <a:latin typeface="Calibri" pitchFamily="34" charset="0"/>
                <a:ea typeface="Calibri" pitchFamily="34" charset="-122"/>
                <a:cs typeface="Calibri" pitchFamily="34" charset="-120"/>
              </a:rPr>
              <a:t>Insert an element on top</a:t>
            </a:r>
            <a:endParaRPr lang="en-US" sz="1500" dirty="0"/>
          </a:p>
          <a:p>
            <a:pPr indent="0" marL="0">
              <a:buNone/>
            </a:pPr>
            <a:r>
              <a:rPr lang="en-US" sz="600" dirty="0">
                <a:solidFill>
                  <a:srgbClr val="1C2B2B"/>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C2B2B"/>
                </a:solidFill>
                <a:latin typeface="Calibri" pitchFamily="34" charset="0"/>
                <a:ea typeface="Calibri" pitchFamily="34" charset="-122"/>
                <a:cs typeface="Calibri" pitchFamily="34" charset="-120"/>
              </a:rPr>
              <a:t>Pop</a:t>
            </a:r>
            <a:endParaRPr lang="en-US" sz="1500" dirty="0"/>
          </a:p>
          <a:p>
            <a:pPr indent="0" marL="0">
              <a:buNone/>
            </a:pPr>
            <a:r>
              <a:rPr lang="en-US" sz="1300" dirty="0">
                <a:solidFill>
                  <a:srgbClr val="5B6E6E"/>
                </a:solidFill>
                <a:latin typeface="Calibri" pitchFamily="34" charset="0"/>
                <a:ea typeface="Calibri" pitchFamily="34" charset="-122"/>
                <a:cs typeface="Calibri" pitchFamily="34" charset="-120"/>
              </a:rPr>
              <a:t>Remove the top element</a:t>
            </a:r>
            <a:endParaRPr lang="en-US" sz="1500" dirty="0"/>
          </a:p>
          <a:p>
            <a:pPr indent="0" marL="0">
              <a:buNone/>
            </a:pPr>
            <a:r>
              <a:rPr lang="en-US" sz="600" dirty="0">
                <a:solidFill>
                  <a:srgbClr val="1C2B2B"/>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C2B2B"/>
                </a:solidFill>
                <a:latin typeface="Calibri" pitchFamily="34" charset="0"/>
                <a:ea typeface="Calibri" pitchFamily="34" charset="-122"/>
                <a:cs typeface="Calibri" pitchFamily="34" charset="-120"/>
              </a:rPr>
              <a:t>Top / Peek</a:t>
            </a:r>
            <a:endParaRPr lang="en-US" sz="1500" dirty="0"/>
          </a:p>
          <a:p>
            <a:pPr indent="0" marL="0">
              <a:buNone/>
            </a:pPr>
            <a:r>
              <a:rPr lang="en-US" sz="1300" dirty="0">
                <a:solidFill>
                  <a:srgbClr val="5B6E6E"/>
                </a:solidFill>
                <a:latin typeface="Calibri" pitchFamily="34" charset="0"/>
                <a:ea typeface="Calibri" pitchFamily="34" charset="-122"/>
                <a:cs typeface="Calibri" pitchFamily="34" charset="-120"/>
              </a:rPr>
              <a:t>View top element only</a:t>
            </a:r>
            <a:endParaRPr lang="en-US" sz="1500" dirty="0"/>
          </a:p>
        </p:txBody>
      </p:sp>
      <p:sp>
        <p:nvSpPr>
          <p:cNvPr id="5" name="Shape 3"/>
          <p:cNvSpPr/>
          <p:nvPr/>
        </p:nvSpPr>
        <p:spPr>
          <a:xfrm>
            <a:off x="5760720" y="3291840"/>
            <a:ext cx="2011680" cy="502920"/>
          </a:xfrm>
          <a:prstGeom prst="rect">
            <a:avLst/>
          </a:prstGeom>
          <a:solidFill>
            <a:srgbClr val="02C39A"/>
          </a:solidFill>
          <a:ln w="15875">
            <a:solidFill>
              <a:srgbClr val="028090"/>
            </a:solidFill>
            <a:prstDash val="solid"/>
          </a:ln>
        </p:spPr>
      </p:sp>
      <p:sp>
        <p:nvSpPr>
          <p:cNvPr id="6" name="Text 4"/>
          <p:cNvSpPr/>
          <p:nvPr/>
        </p:nvSpPr>
        <p:spPr>
          <a:xfrm>
            <a:off x="5760720" y="3291840"/>
            <a:ext cx="2011680" cy="502920"/>
          </a:xfrm>
          <a:prstGeom prst="rect">
            <a:avLst/>
          </a:prstGeom>
          <a:noFill/>
          <a:ln/>
        </p:spPr>
        <p:txBody>
          <a:bodyPr wrap="square" lIns="0" tIns="0" rIns="0" bIns="0" rtlCol="0" anchor="ctr"/>
          <a:lstStyle/>
          <a:p>
            <a:pPr algn="ctr" indent="0" marL="0">
              <a:buNone/>
            </a:pPr>
            <a:r>
              <a:rPr lang="en-US" sz="1200" dirty="0">
                <a:solidFill>
                  <a:srgbClr val="1C2B2B"/>
                </a:solidFill>
                <a:latin typeface="Courier New" pitchFamily="34" charset="0"/>
                <a:ea typeface="Courier New" pitchFamily="34" charset="-122"/>
                <a:cs typeface="Courier New" pitchFamily="34" charset="-120"/>
              </a:rPr>
              <a:t>"Hello Wor"</a:t>
            </a:r>
            <a:endParaRPr lang="en-US" sz="1200" dirty="0"/>
          </a:p>
        </p:txBody>
      </p:sp>
      <p:sp>
        <p:nvSpPr>
          <p:cNvPr id="7" name="Shape 5"/>
          <p:cNvSpPr/>
          <p:nvPr/>
        </p:nvSpPr>
        <p:spPr>
          <a:xfrm>
            <a:off x="5760720" y="2788920"/>
            <a:ext cx="2011680" cy="502920"/>
          </a:xfrm>
          <a:prstGeom prst="rect">
            <a:avLst/>
          </a:prstGeom>
          <a:solidFill>
            <a:srgbClr val="CFEFEA"/>
          </a:solidFill>
          <a:ln w="15875">
            <a:solidFill>
              <a:srgbClr val="028090"/>
            </a:solidFill>
            <a:prstDash val="solid"/>
          </a:ln>
        </p:spPr>
      </p:sp>
      <p:sp>
        <p:nvSpPr>
          <p:cNvPr id="8" name="Text 6"/>
          <p:cNvSpPr/>
          <p:nvPr/>
        </p:nvSpPr>
        <p:spPr>
          <a:xfrm>
            <a:off x="5760720" y="2788920"/>
            <a:ext cx="2011680" cy="502920"/>
          </a:xfrm>
          <a:prstGeom prst="rect">
            <a:avLst/>
          </a:prstGeom>
          <a:noFill/>
          <a:ln/>
        </p:spPr>
        <p:txBody>
          <a:bodyPr wrap="square" lIns="0" tIns="0" rIns="0" bIns="0" rtlCol="0" anchor="ctr"/>
          <a:lstStyle/>
          <a:p>
            <a:pPr algn="ctr" indent="0" marL="0">
              <a:buNone/>
            </a:pPr>
            <a:r>
              <a:rPr lang="en-US" sz="1200" dirty="0">
                <a:solidFill>
                  <a:srgbClr val="1C2B2B"/>
                </a:solidFill>
                <a:latin typeface="Courier New" pitchFamily="34" charset="0"/>
                <a:ea typeface="Courier New" pitchFamily="34" charset="-122"/>
                <a:cs typeface="Courier New" pitchFamily="34" charset="-120"/>
              </a:rPr>
              <a:t>"Hello"</a:t>
            </a:r>
            <a:endParaRPr lang="en-US" sz="1200" dirty="0"/>
          </a:p>
        </p:txBody>
      </p:sp>
      <p:sp>
        <p:nvSpPr>
          <p:cNvPr id="9" name="Shape 7"/>
          <p:cNvSpPr/>
          <p:nvPr/>
        </p:nvSpPr>
        <p:spPr>
          <a:xfrm>
            <a:off x="5760720" y="2286000"/>
            <a:ext cx="2011680" cy="502920"/>
          </a:xfrm>
          <a:prstGeom prst="rect">
            <a:avLst/>
          </a:prstGeom>
          <a:solidFill>
            <a:srgbClr val="CFEFEA"/>
          </a:solidFill>
          <a:ln w="15875">
            <a:solidFill>
              <a:srgbClr val="028090"/>
            </a:solidFill>
            <a:prstDash val="solid"/>
          </a:ln>
        </p:spPr>
      </p:sp>
      <p:sp>
        <p:nvSpPr>
          <p:cNvPr id="10" name="Text 8"/>
          <p:cNvSpPr/>
          <p:nvPr/>
        </p:nvSpPr>
        <p:spPr>
          <a:xfrm>
            <a:off x="5760720" y="2286000"/>
            <a:ext cx="2011680" cy="502920"/>
          </a:xfrm>
          <a:prstGeom prst="rect">
            <a:avLst/>
          </a:prstGeom>
          <a:noFill/>
          <a:ln/>
        </p:spPr>
        <p:txBody>
          <a:bodyPr wrap="square" lIns="0" tIns="0" rIns="0" bIns="0" rtlCol="0" anchor="ctr"/>
          <a:lstStyle/>
          <a:p>
            <a:pPr algn="ctr" indent="0" marL="0">
              <a:buNone/>
            </a:pPr>
            <a:r>
              <a:rPr lang="en-US" sz="1200" dirty="0">
                <a:solidFill>
                  <a:srgbClr val="1C2B2B"/>
                </a:solidFill>
                <a:latin typeface="Courier New" pitchFamily="34" charset="0"/>
                <a:ea typeface="Courier New" pitchFamily="34" charset="-122"/>
                <a:cs typeface="Courier New" pitchFamily="34" charset="-120"/>
              </a:rPr>
              <a:t>"" (empty)</a:t>
            </a:r>
            <a:endParaRPr lang="en-US" sz="1200" dirty="0"/>
          </a:p>
        </p:txBody>
      </p:sp>
      <p:sp>
        <p:nvSpPr>
          <p:cNvPr id="11" name="Text 9"/>
          <p:cNvSpPr/>
          <p:nvPr/>
        </p:nvSpPr>
        <p:spPr>
          <a:xfrm>
            <a:off x="7863840" y="3291840"/>
            <a:ext cx="822960" cy="502920"/>
          </a:xfrm>
          <a:prstGeom prst="rect">
            <a:avLst/>
          </a:prstGeom>
          <a:noFill/>
          <a:ln/>
        </p:spPr>
        <p:txBody>
          <a:bodyPr wrap="square" rtlCol="0" anchor="ctr"/>
          <a:lstStyle/>
          <a:p>
            <a:pPr indent="0" marL="0">
              <a:buNone/>
            </a:pPr>
            <a:r>
              <a:rPr lang="en-US" sz="1100" b="1" dirty="0">
                <a:solidFill>
                  <a:srgbClr val="028090"/>
                </a:solidFill>
              </a:rPr>
              <a:t>TOP</a:t>
            </a:r>
            <a:endParaRPr lang="en-US" sz="1100" dirty="0"/>
          </a:p>
        </p:txBody>
      </p:sp>
      <p:sp>
        <p:nvSpPr>
          <p:cNvPr id="12" name="Text 10"/>
          <p:cNvSpPr/>
          <p:nvPr/>
        </p:nvSpPr>
        <p:spPr>
          <a:xfrm>
            <a:off x="5760720" y="1737360"/>
            <a:ext cx="2011680" cy="274320"/>
          </a:xfrm>
          <a:prstGeom prst="rect">
            <a:avLst/>
          </a:prstGeom>
          <a:noFill/>
          <a:ln/>
        </p:spPr>
        <p:txBody>
          <a:bodyPr wrap="square" rtlCol="0" anchor="ctr"/>
          <a:lstStyle/>
          <a:p>
            <a:pPr algn="ctr" indent="0" marL="0">
              <a:buNone/>
            </a:pPr>
            <a:r>
              <a:rPr lang="en-US" sz="1100" i="1" dirty="0">
                <a:solidFill>
                  <a:srgbClr val="5B6E6E"/>
                </a:solidFill>
              </a:rPr>
              <a:t>undoStack (example)</a:t>
            </a:r>
            <a:endParaRPr lang="en-US" sz="1100" dirty="0"/>
          </a:p>
        </p:txBody>
      </p:sp>
      <p:sp>
        <p:nvSpPr>
          <p:cNvPr id="13" name="Text 11"/>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C2B2B"/>
                </a:solidFill>
                <a:latin typeface="Cambria" pitchFamily="34" charset="0"/>
                <a:ea typeface="Cambria" pitchFamily="34" charset="-122"/>
                <a:cs typeface="Cambria" pitchFamily="34" charset="-120"/>
              </a:rPr>
              <a:t>Working of Undo and Redo</a:t>
            </a:r>
            <a:endParaRPr lang="en-US" sz="3000" dirty="0"/>
          </a:p>
        </p:txBody>
      </p:sp>
      <p:sp>
        <p:nvSpPr>
          <p:cNvPr id="3" name="Shape 1"/>
          <p:cNvSpPr/>
          <p:nvPr/>
        </p:nvSpPr>
        <p:spPr>
          <a:xfrm>
            <a:off x="1005840" y="1417320"/>
            <a:ext cx="594360" cy="59436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1083107" y="1494587"/>
            <a:ext cx="439826" cy="439826"/>
          </a:xfrm>
          <a:prstGeom prst="rect">
            <a:avLst/>
          </a:prstGeom>
        </p:spPr>
      </p:pic>
      <p:sp>
        <p:nvSpPr>
          <p:cNvPr id="5" name="Text 2"/>
          <p:cNvSpPr/>
          <p:nvPr/>
        </p:nvSpPr>
        <p:spPr>
          <a:xfrm>
            <a:off x="457200" y="2103120"/>
            <a:ext cx="1737360" cy="365760"/>
          </a:xfrm>
          <a:prstGeom prst="rect">
            <a:avLst/>
          </a:prstGeom>
          <a:noFill/>
          <a:ln/>
        </p:spPr>
        <p:txBody>
          <a:bodyPr wrap="square" rtlCol="0" anchor="ctr"/>
          <a:lstStyle/>
          <a:p>
            <a:pPr algn="ctr" indent="0" marL="0">
              <a:buNone/>
            </a:pPr>
            <a:r>
              <a:rPr lang="en-US" sz="1400" b="1" dirty="0">
                <a:solidFill>
                  <a:srgbClr val="1C2B2B"/>
                </a:solidFill>
              </a:rPr>
              <a:t>Undo Stack</a:t>
            </a:r>
            <a:endParaRPr lang="en-US" sz="1400" dirty="0"/>
          </a:p>
        </p:txBody>
      </p:sp>
      <p:sp>
        <p:nvSpPr>
          <p:cNvPr id="6" name="Text 3"/>
          <p:cNvSpPr/>
          <p:nvPr/>
        </p:nvSpPr>
        <p:spPr>
          <a:xfrm>
            <a:off x="274320" y="2468880"/>
            <a:ext cx="2103120" cy="1005840"/>
          </a:xfrm>
          <a:prstGeom prst="rect">
            <a:avLst/>
          </a:prstGeom>
          <a:noFill/>
          <a:ln/>
        </p:spPr>
        <p:txBody>
          <a:bodyPr wrap="square" rtlCol="0" anchor="ctr"/>
          <a:lstStyle/>
          <a:p>
            <a:pPr algn="ctr" indent="0" marL="0">
              <a:buNone/>
            </a:pPr>
            <a:r>
              <a:rPr lang="en-US" sz="1150" dirty="0">
                <a:solidFill>
                  <a:srgbClr val="5B6E6E"/>
                </a:solidFill>
                <a:latin typeface="Calibri" pitchFamily="34" charset="0"/>
                <a:ea typeface="Calibri" pitchFamily="34" charset="-122"/>
                <a:cs typeface="Calibri" pitchFamily="34" charset="-120"/>
              </a:rPr>
              <a:t>Stores earlier versions of the text before each change</a:t>
            </a:r>
            <a:endParaRPr lang="en-US" sz="1150" dirty="0"/>
          </a:p>
        </p:txBody>
      </p:sp>
      <p:sp>
        <p:nvSpPr>
          <p:cNvPr id="7" name="Shape 4"/>
          <p:cNvSpPr/>
          <p:nvPr/>
        </p:nvSpPr>
        <p:spPr>
          <a:xfrm>
            <a:off x="3703320" y="1691640"/>
            <a:ext cx="640080" cy="640080"/>
          </a:xfrm>
          <a:prstGeom prst="ellipse">
            <a:avLst/>
          </a:prstGeom>
          <a:solidFill>
            <a:srgbClr val="023436"/>
          </a:solidFill>
          <a:ln/>
        </p:spPr>
      </p:sp>
      <p:pic>
        <p:nvPicPr>
          <p:cNvPr id="8" name="Image 1" descr="preencoded.png">    </p:cNvPr>
          <p:cNvPicPr>
            <a:picLocks noChangeAspect="1"/>
          </p:cNvPicPr>
          <p:nvPr/>
        </p:nvPicPr>
        <p:blipFill>
          <a:blip r:embed="rId2"/>
          <a:stretch>
            <a:fillRect/>
          </a:stretch>
        </p:blipFill>
        <p:spPr>
          <a:xfrm>
            <a:off x="3786530" y="1774850"/>
            <a:ext cx="473659" cy="473659"/>
          </a:xfrm>
          <a:prstGeom prst="rect">
            <a:avLst/>
          </a:prstGeom>
        </p:spPr>
      </p:pic>
      <p:sp>
        <p:nvSpPr>
          <p:cNvPr id="9" name="Shape 5"/>
          <p:cNvSpPr/>
          <p:nvPr/>
        </p:nvSpPr>
        <p:spPr>
          <a:xfrm>
            <a:off x="6446520" y="1417320"/>
            <a:ext cx="594360" cy="594360"/>
          </a:xfrm>
          <a:prstGeom prst="ellipse">
            <a:avLst/>
          </a:prstGeom>
          <a:solidFill>
            <a:srgbClr val="00A896"/>
          </a:solidFill>
          <a:ln/>
        </p:spPr>
      </p:sp>
      <p:pic>
        <p:nvPicPr>
          <p:cNvPr id="10" name="Image 2" descr="preencoded.png">    </p:cNvPr>
          <p:cNvPicPr>
            <a:picLocks noChangeAspect="1"/>
          </p:cNvPicPr>
          <p:nvPr/>
        </p:nvPicPr>
        <p:blipFill>
          <a:blip r:embed="rId3"/>
          <a:stretch>
            <a:fillRect/>
          </a:stretch>
        </p:blipFill>
        <p:spPr>
          <a:xfrm>
            <a:off x="6523787" y="1494587"/>
            <a:ext cx="439826" cy="439826"/>
          </a:xfrm>
          <a:prstGeom prst="rect">
            <a:avLst/>
          </a:prstGeom>
        </p:spPr>
      </p:pic>
      <p:sp>
        <p:nvSpPr>
          <p:cNvPr id="11" name="Text 6"/>
          <p:cNvSpPr/>
          <p:nvPr/>
        </p:nvSpPr>
        <p:spPr>
          <a:xfrm>
            <a:off x="5897880" y="2103120"/>
            <a:ext cx="1737360" cy="365760"/>
          </a:xfrm>
          <a:prstGeom prst="rect">
            <a:avLst/>
          </a:prstGeom>
          <a:noFill/>
          <a:ln/>
        </p:spPr>
        <p:txBody>
          <a:bodyPr wrap="square" rtlCol="0" anchor="ctr"/>
          <a:lstStyle/>
          <a:p>
            <a:pPr algn="ctr" indent="0" marL="0">
              <a:buNone/>
            </a:pPr>
            <a:r>
              <a:rPr lang="en-US" sz="1400" b="1" dirty="0">
                <a:solidFill>
                  <a:srgbClr val="1C2B2B"/>
                </a:solidFill>
              </a:rPr>
              <a:t>Redo Stack</a:t>
            </a:r>
            <a:endParaRPr lang="en-US" sz="1400" dirty="0"/>
          </a:p>
        </p:txBody>
      </p:sp>
      <p:sp>
        <p:nvSpPr>
          <p:cNvPr id="12" name="Text 7"/>
          <p:cNvSpPr/>
          <p:nvPr/>
        </p:nvSpPr>
        <p:spPr>
          <a:xfrm>
            <a:off x="5715000" y="2468880"/>
            <a:ext cx="2103120" cy="1005840"/>
          </a:xfrm>
          <a:prstGeom prst="rect">
            <a:avLst/>
          </a:prstGeom>
          <a:noFill/>
          <a:ln/>
        </p:spPr>
        <p:txBody>
          <a:bodyPr wrap="square" rtlCol="0" anchor="ctr"/>
          <a:lstStyle/>
          <a:p>
            <a:pPr algn="ctr" indent="0" marL="0">
              <a:buNone/>
            </a:pPr>
            <a:r>
              <a:rPr lang="en-US" sz="1150" dirty="0">
                <a:solidFill>
                  <a:srgbClr val="5B6E6E"/>
                </a:solidFill>
                <a:latin typeface="Calibri" pitchFamily="34" charset="0"/>
                <a:ea typeface="Calibri" pitchFamily="34" charset="-122"/>
                <a:cs typeface="Calibri" pitchFamily="34" charset="-120"/>
              </a:rPr>
              <a:t>Stores versions that were undone, in case user wants them back</a:t>
            </a:r>
            <a:endParaRPr lang="en-US" sz="1150" dirty="0"/>
          </a:p>
        </p:txBody>
      </p:sp>
      <p:sp>
        <p:nvSpPr>
          <p:cNvPr id="13" name="Shape 8"/>
          <p:cNvSpPr/>
          <p:nvPr/>
        </p:nvSpPr>
        <p:spPr>
          <a:xfrm>
            <a:off x="548640" y="3703320"/>
            <a:ext cx="8046720" cy="1051560"/>
          </a:xfrm>
          <a:prstGeom prst="roundRect">
            <a:avLst>
              <a:gd name="adj" fmla="val 5217"/>
            </a:avLst>
          </a:prstGeom>
          <a:solidFill>
            <a:srgbClr val="EAF7F5"/>
          </a:solidFill>
          <a:ln/>
        </p:spPr>
      </p:sp>
      <p:sp>
        <p:nvSpPr>
          <p:cNvPr id="14" name="Text 9"/>
          <p:cNvSpPr/>
          <p:nvPr/>
        </p:nvSpPr>
        <p:spPr>
          <a:xfrm>
            <a:off x="777240" y="3794760"/>
            <a:ext cx="7589520" cy="868680"/>
          </a:xfrm>
          <a:prstGeom prst="rect">
            <a:avLst/>
          </a:prstGeom>
          <a:noFill/>
          <a:ln/>
        </p:spPr>
        <p:txBody>
          <a:bodyPr wrap="square"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Undo:  </a:t>
            </a:r>
            <a:pPr indent="0" marL="0">
              <a:buNone/>
            </a:pPr>
            <a:r>
              <a:rPr lang="en-US" sz="1350" dirty="0">
                <a:solidFill>
                  <a:srgbClr val="1C2B2B"/>
                </a:solidFill>
                <a:latin typeface="Calibri" pitchFamily="34" charset="0"/>
                <a:ea typeface="Calibri" pitchFamily="34" charset="-122"/>
                <a:cs typeface="Calibri" pitchFamily="34" charset="-120"/>
              </a:rPr>
              <a:t>push current text to Redo Stack -&gt; restore top of Undo Stack</a:t>
            </a:r>
            <a:endParaRPr lang="en-US" sz="1350" dirty="0"/>
          </a:p>
          <a:p>
            <a:pPr indent="0" marL="0">
              <a:buNone/>
            </a:pPr>
            <a:r>
              <a:rPr lang="en-US" sz="1350" b="1" dirty="0">
                <a:solidFill>
                  <a:srgbClr val="00A896"/>
                </a:solidFill>
                <a:latin typeface="Calibri" pitchFamily="34" charset="0"/>
                <a:ea typeface="Calibri" pitchFamily="34" charset="-122"/>
                <a:cs typeface="Calibri" pitchFamily="34" charset="-120"/>
              </a:rPr>
              <a:t>Redo:  </a:t>
            </a:r>
            <a:pPr indent="0" marL="0">
              <a:buNone/>
            </a:pPr>
            <a:r>
              <a:rPr lang="en-US" sz="1350" dirty="0">
                <a:solidFill>
                  <a:srgbClr val="1C2B2B"/>
                </a:solidFill>
                <a:latin typeface="Calibri" pitchFamily="34" charset="0"/>
                <a:ea typeface="Calibri" pitchFamily="34" charset="-122"/>
                <a:cs typeface="Calibri" pitchFamily="34" charset="-120"/>
              </a:rPr>
              <a:t>push current text to Undo Stack -&gt; restore top of Redo Stack</a:t>
            </a:r>
            <a:endParaRPr lang="en-US" sz="1350" dirty="0"/>
          </a:p>
        </p:txBody>
      </p:sp>
      <p:sp>
        <p:nvSpPr>
          <p:cNvPr id="15" name="Text 10"/>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C2B2B"/>
                </a:solidFill>
                <a:latin typeface="Cambria" pitchFamily="34" charset="0"/>
                <a:ea typeface="Cambria" pitchFamily="34" charset="-122"/>
                <a:cs typeface="Cambria" pitchFamily="34" charset="-120"/>
              </a:rPr>
              <a:t>Algorithm (Simplified)</a:t>
            </a:r>
            <a:endParaRPr lang="en-US" sz="3000" dirty="0"/>
          </a:p>
        </p:txBody>
      </p:sp>
      <p:sp>
        <p:nvSpPr>
          <p:cNvPr id="3" name="Shape 1"/>
          <p:cNvSpPr/>
          <p:nvPr/>
        </p:nvSpPr>
        <p:spPr>
          <a:xfrm>
            <a:off x="548640" y="1417320"/>
            <a:ext cx="548640" cy="54864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619963" y="1488643"/>
            <a:ext cx="405994" cy="405994"/>
          </a:xfrm>
          <a:prstGeom prst="rect">
            <a:avLst/>
          </a:prstGeom>
        </p:spPr>
      </p:pic>
      <p:sp>
        <p:nvSpPr>
          <p:cNvPr id="5" name="Text 2"/>
          <p:cNvSpPr/>
          <p:nvPr/>
        </p:nvSpPr>
        <p:spPr>
          <a:xfrm>
            <a:off x="1371600" y="1417320"/>
            <a:ext cx="7040880" cy="320040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1C2B2B"/>
                </a:solidFill>
                <a:latin typeface="Calibri" pitchFamily="34" charset="0"/>
                <a:ea typeface="Calibri" pitchFamily="34" charset="-122"/>
                <a:cs typeface="Calibri" pitchFamily="34" charset="-120"/>
              </a:rPr>
              <a:t>Initialize empty text, empty Undo Stack and Redo Stack</a:t>
            </a:r>
            <a:endParaRPr lang="en-US" sz="1500" dirty="0"/>
          </a:p>
          <a:p>
            <a:pPr marL="342900" indent="-342900">
              <a:spcAft>
                <a:spcPts val="800"/>
              </a:spcAft>
              <a:buSzPct val="100000"/>
              <a:buFont typeface="+mj-lt"/>
              <a:buAutoNum type="arabicPeriod" startAt="1"/>
            </a:pPr>
            <a:r>
              <a:rPr lang="en-US" sz="1500" dirty="0">
                <a:solidFill>
                  <a:srgbClr val="1C2B2B"/>
                </a:solidFill>
                <a:latin typeface="Calibri" pitchFamily="34" charset="0"/>
                <a:ea typeface="Calibri" pitchFamily="34" charset="-122"/>
                <a:cs typeface="Calibri" pitchFamily="34" charset="-120"/>
              </a:rPr>
              <a:t>Display menu and read user's choice</a:t>
            </a:r>
            <a:endParaRPr lang="en-US" sz="1500" dirty="0"/>
          </a:p>
          <a:p>
            <a:pPr marL="342900" indent="-342900">
              <a:spcAft>
                <a:spcPts val="800"/>
              </a:spcAft>
              <a:buSzPct val="100000"/>
              <a:buFont typeface="+mj-lt"/>
              <a:buAutoNum type="arabicPeriod" startAt="1"/>
            </a:pPr>
            <a:r>
              <a:rPr lang="en-US" sz="1500" dirty="0">
                <a:solidFill>
                  <a:srgbClr val="1C2B2B"/>
                </a:solidFill>
                <a:latin typeface="Calibri" pitchFamily="34" charset="0"/>
                <a:ea typeface="Calibri" pitchFamily="34" charset="-122"/>
                <a:cs typeface="Calibri" pitchFamily="34" charset="-120"/>
              </a:rPr>
              <a:t>Add Text -&gt; push old text to Undo Stack, then append new text</a:t>
            </a:r>
            <a:endParaRPr lang="en-US" sz="1500" dirty="0"/>
          </a:p>
          <a:p>
            <a:pPr marL="342900" indent="-342900">
              <a:spcAft>
                <a:spcPts val="800"/>
              </a:spcAft>
              <a:buSzPct val="100000"/>
              <a:buFont typeface="+mj-lt"/>
              <a:buAutoNum type="arabicPeriod" startAt="1"/>
            </a:pPr>
            <a:r>
              <a:rPr lang="en-US" sz="1500" dirty="0">
                <a:solidFill>
                  <a:srgbClr val="1C2B2B"/>
                </a:solidFill>
                <a:latin typeface="Calibri" pitchFamily="34" charset="0"/>
                <a:ea typeface="Calibri" pitchFamily="34" charset="-122"/>
                <a:cs typeface="Calibri" pitchFamily="34" charset="-120"/>
              </a:rPr>
              <a:t>Undo -&gt; push current to Redo Stack, restore top of Undo Stack</a:t>
            </a:r>
            <a:endParaRPr lang="en-US" sz="1500" dirty="0"/>
          </a:p>
          <a:p>
            <a:pPr marL="342900" indent="-342900">
              <a:spcAft>
                <a:spcPts val="800"/>
              </a:spcAft>
              <a:buSzPct val="100000"/>
              <a:buFont typeface="+mj-lt"/>
              <a:buAutoNum type="arabicPeriod" startAt="1"/>
            </a:pPr>
            <a:r>
              <a:rPr lang="en-US" sz="1500" dirty="0">
                <a:solidFill>
                  <a:srgbClr val="1C2B2B"/>
                </a:solidFill>
                <a:latin typeface="Calibri" pitchFamily="34" charset="0"/>
                <a:ea typeface="Calibri" pitchFamily="34" charset="-122"/>
                <a:cs typeface="Calibri" pitchFamily="34" charset="-120"/>
              </a:rPr>
              <a:t>Redo -&gt; push current to Undo Stack, restore top of Redo Stack</a:t>
            </a:r>
            <a:endParaRPr lang="en-US" sz="1500" dirty="0"/>
          </a:p>
          <a:p>
            <a:pPr marL="342900" indent="-342900">
              <a:spcAft>
                <a:spcPts val="800"/>
              </a:spcAft>
              <a:buSzPct val="100000"/>
              <a:buFont typeface="+mj-lt"/>
              <a:buAutoNum type="arabicPeriod" startAt="1"/>
            </a:pPr>
            <a:r>
              <a:rPr lang="en-US" sz="1500" dirty="0">
                <a:solidFill>
                  <a:srgbClr val="1C2B2B"/>
                </a:solidFill>
                <a:latin typeface="Calibri" pitchFamily="34" charset="0"/>
                <a:ea typeface="Calibri" pitchFamily="34" charset="-122"/>
                <a:cs typeface="Calibri" pitchFamily="34" charset="-120"/>
              </a:rPr>
              <a:t>Repeat until user selects Exit</a:t>
            </a:r>
            <a:endParaRPr lang="en-US" sz="1500" dirty="0"/>
          </a:p>
        </p:txBody>
      </p:sp>
      <p:sp>
        <p:nvSpPr>
          <p:cNvPr id="6" name="Text 3"/>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3436"/>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Source Code Overview</a:t>
            </a:r>
            <a:endParaRPr lang="en-US" sz="2800" dirty="0"/>
          </a:p>
        </p:txBody>
      </p:sp>
      <p:sp>
        <p:nvSpPr>
          <p:cNvPr id="3" name="Shape 1"/>
          <p:cNvSpPr/>
          <p:nvPr/>
        </p:nvSpPr>
        <p:spPr>
          <a:xfrm>
            <a:off x="548640" y="1234440"/>
            <a:ext cx="548640" cy="548640"/>
          </a:xfrm>
          <a:prstGeom prst="ellipse">
            <a:avLst/>
          </a:prstGeom>
          <a:solidFill>
            <a:srgbClr val="00A896"/>
          </a:solidFill>
          <a:ln/>
        </p:spPr>
      </p:sp>
      <p:pic>
        <p:nvPicPr>
          <p:cNvPr id="4" name="Image 0" descr="preencoded.png">    </p:cNvPr>
          <p:cNvPicPr>
            <a:picLocks noChangeAspect="1"/>
          </p:cNvPicPr>
          <p:nvPr/>
        </p:nvPicPr>
        <p:blipFill>
          <a:blip r:embed="rId1"/>
          <a:stretch>
            <a:fillRect/>
          </a:stretch>
        </p:blipFill>
        <p:spPr>
          <a:xfrm>
            <a:off x="619963" y="1305763"/>
            <a:ext cx="405994" cy="405994"/>
          </a:xfrm>
          <a:prstGeom prst="rect">
            <a:avLst/>
          </a:prstGeom>
        </p:spPr>
      </p:pic>
      <p:sp>
        <p:nvSpPr>
          <p:cNvPr id="5" name="Text 2"/>
          <p:cNvSpPr/>
          <p:nvPr/>
        </p:nvSpPr>
        <p:spPr>
          <a:xfrm>
            <a:off x="1325880" y="1234440"/>
            <a:ext cx="3657600" cy="548640"/>
          </a:xfrm>
          <a:prstGeom prst="rect">
            <a:avLst/>
          </a:prstGeom>
          <a:noFill/>
          <a:ln/>
        </p:spPr>
        <p:txBody>
          <a:bodyPr wrap="square" rtlCol="0" anchor="ctr"/>
          <a:lstStyle/>
          <a:p>
            <a:pPr indent="0" marL="0">
              <a:buNone/>
            </a:pPr>
            <a:r>
              <a:rPr lang="en-US" sz="1600" b="1" dirty="0">
                <a:solidFill>
                  <a:srgbClr val="02C39A"/>
                </a:solidFill>
                <a:latin typeface="Courier New" pitchFamily="34" charset="0"/>
                <a:ea typeface="Courier New" pitchFamily="34" charset="-122"/>
                <a:cs typeface="Courier New" pitchFamily="34" charset="-120"/>
              </a:rPr>
              <a:t>class TextEditor</a:t>
            </a:r>
            <a:endParaRPr lang="en-US" sz="1600" dirty="0"/>
          </a:p>
        </p:txBody>
      </p:sp>
      <p:sp>
        <p:nvSpPr>
          <p:cNvPr id="6" name="Text 3"/>
          <p:cNvSpPr/>
          <p:nvPr/>
        </p:nvSpPr>
        <p:spPr>
          <a:xfrm>
            <a:off x="640080" y="1965960"/>
            <a:ext cx="2286000" cy="457200"/>
          </a:xfrm>
          <a:prstGeom prst="rect">
            <a:avLst/>
          </a:prstGeom>
          <a:noFill/>
          <a:ln/>
        </p:spPr>
        <p:txBody>
          <a:bodyPr wrap="square" rtlCol="0" anchor="ctr"/>
          <a:lstStyle/>
          <a:p>
            <a:pPr indent="0" marL="0">
              <a:buNone/>
            </a:pPr>
            <a:r>
              <a:rPr lang="en-US" sz="1400" b="1" dirty="0">
                <a:solidFill>
                  <a:srgbClr val="02C39A"/>
                </a:solidFill>
                <a:latin typeface="Courier New" pitchFamily="34" charset="0"/>
                <a:ea typeface="Courier New" pitchFamily="34" charset="-122"/>
                <a:cs typeface="Courier New" pitchFamily="34" charset="-120"/>
              </a:rPr>
              <a:t>addText()</a:t>
            </a:r>
            <a:endParaRPr lang="en-US" sz="1400" dirty="0"/>
          </a:p>
        </p:txBody>
      </p:sp>
      <p:sp>
        <p:nvSpPr>
          <p:cNvPr id="7" name="Text 4"/>
          <p:cNvSpPr/>
          <p:nvPr/>
        </p:nvSpPr>
        <p:spPr>
          <a:xfrm>
            <a:off x="3017520" y="1965960"/>
            <a:ext cx="5577840" cy="457200"/>
          </a:xfrm>
          <a:prstGeom prst="rect">
            <a:avLst/>
          </a:prstGeom>
          <a:noFill/>
          <a:ln/>
        </p:spPr>
        <p:txBody>
          <a:bodyPr wrap="square" rtlCol="0" anchor="ctr"/>
          <a:lstStyle/>
          <a:p>
            <a:pPr indent="0" marL="0">
              <a:buNone/>
            </a:pPr>
            <a:r>
              <a:rPr lang="en-US" sz="1300" dirty="0">
                <a:solidFill>
                  <a:srgbClr val="D8F3EF"/>
                </a:solidFill>
                <a:latin typeface="Calibri" pitchFamily="34" charset="0"/>
                <a:ea typeface="Calibri" pitchFamily="34" charset="-122"/>
                <a:cs typeface="Calibri" pitchFamily="34" charset="-120"/>
              </a:rPr>
              <a:t>Saves old text on Undo Stack, appends new text</a:t>
            </a:r>
            <a:endParaRPr lang="en-US" sz="1300" dirty="0"/>
          </a:p>
        </p:txBody>
      </p:sp>
      <p:sp>
        <p:nvSpPr>
          <p:cNvPr id="8" name="Text 5"/>
          <p:cNvSpPr/>
          <p:nvPr/>
        </p:nvSpPr>
        <p:spPr>
          <a:xfrm>
            <a:off x="640080" y="2496312"/>
            <a:ext cx="2286000" cy="457200"/>
          </a:xfrm>
          <a:prstGeom prst="rect">
            <a:avLst/>
          </a:prstGeom>
          <a:noFill/>
          <a:ln/>
        </p:spPr>
        <p:txBody>
          <a:bodyPr wrap="square" rtlCol="0" anchor="ctr"/>
          <a:lstStyle/>
          <a:p>
            <a:pPr indent="0" marL="0">
              <a:buNone/>
            </a:pPr>
            <a:r>
              <a:rPr lang="en-US" sz="1400" b="1" dirty="0">
                <a:solidFill>
                  <a:srgbClr val="02C39A"/>
                </a:solidFill>
                <a:latin typeface="Courier New" pitchFamily="34" charset="0"/>
                <a:ea typeface="Courier New" pitchFamily="34" charset="-122"/>
                <a:cs typeface="Courier New" pitchFamily="34" charset="-120"/>
              </a:rPr>
              <a:t>clearText()</a:t>
            </a:r>
            <a:endParaRPr lang="en-US" sz="1400" dirty="0"/>
          </a:p>
        </p:txBody>
      </p:sp>
      <p:sp>
        <p:nvSpPr>
          <p:cNvPr id="9" name="Text 6"/>
          <p:cNvSpPr/>
          <p:nvPr/>
        </p:nvSpPr>
        <p:spPr>
          <a:xfrm>
            <a:off x="3017520" y="2496312"/>
            <a:ext cx="5577840" cy="457200"/>
          </a:xfrm>
          <a:prstGeom prst="rect">
            <a:avLst/>
          </a:prstGeom>
          <a:noFill/>
          <a:ln/>
        </p:spPr>
        <p:txBody>
          <a:bodyPr wrap="square" rtlCol="0" anchor="ctr"/>
          <a:lstStyle/>
          <a:p>
            <a:pPr indent="0" marL="0">
              <a:buNone/>
            </a:pPr>
            <a:r>
              <a:rPr lang="en-US" sz="1300" dirty="0">
                <a:solidFill>
                  <a:srgbClr val="D8F3EF"/>
                </a:solidFill>
                <a:latin typeface="Calibri" pitchFamily="34" charset="0"/>
                <a:ea typeface="Calibri" pitchFamily="34" charset="-122"/>
                <a:cs typeface="Calibri" pitchFamily="34" charset="-120"/>
              </a:rPr>
              <a:t>Saves old text on Undo Stack, empties current text</a:t>
            </a:r>
            <a:endParaRPr lang="en-US" sz="1300" dirty="0"/>
          </a:p>
        </p:txBody>
      </p:sp>
      <p:sp>
        <p:nvSpPr>
          <p:cNvPr id="10" name="Text 7"/>
          <p:cNvSpPr/>
          <p:nvPr/>
        </p:nvSpPr>
        <p:spPr>
          <a:xfrm>
            <a:off x="640080" y="3026664"/>
            <a:ext cx="2286000" cy="457200"/>
          </a:xfrm>
          <a:prstGeom prst="rect">
            <a:avLst/>
          </a:prstGeom>
          <a:noFill/>
          <a:ln/>
        </p:spPr>
        <p:txBody>
          <a:bodyPr wrap="square" rtlCol="0" anchor="ctr"/>
          <a:lstStyle/>
          <a:p>
            <a:pPr indent="0" marL="0">
              <a:buNone/>
            </a:pPr>
            <a:r>
              <a:rPr lang="en-US" sz="1400" b="1" dirty="0">
                <a:solidFill>
                  <a:srgbClr val="02C39A"/>
                </a:solidFill>
                <a:latin typeface="Courier New" pitchFamily="34" charset="0"/>
                <a:ea typeface="Courier New" pitchFamily="34" charset="-122"/>
                <a:cs typeface="Courier New" pitchFamily="34" charset="-120"/>
              </a:rPr>
              <a:t>undo()</a:t>
            </a:r>
            <a:endParaRPr lang="en-US" sz="1400" dirty="0"/>
          </a:p>
        </p:txBody>
      </p:sp>
      <p:sp>
        <p:nvSpPr>
          <p:cNvPr id="11" name="Text 8"/>
          <p:cNvSpPr/>
          <p:nvPr/>
        </p:nvSpPr>
        <p:spPr>
          <a:xfrm>
            <a:off x="3017520" y="3026664"/>
            <a:ext cx="5577840" cy="457200"/>
          </a:xfrm>
          <a:prstGeom prst="rect">
            <a:avLst/>
          </a:prstGeom>
          <a:noFill/>
          <a:ln/>
        </p:spPr>
        <p:txBody>
          <a:bodyPr wrap="square" rtlCol="0" anchor="ctr"/>
          <a:lstStyle/>
          <a:p>
            <a:pPr indent="0" marL="0">
              <a:buNone/>
            </a:pPr>
            <a:r>
              <a:rPr lang="en-US" sz="1300" dirty="0">
                <a:solidFill>
                  <a:srgbClr val="D8F3EF"/>
                </a:solidFill>
                <a:latin typeface="Calibri" pitchFamily="34" charset="0"/>
                <a:ea typeface="Calibri" pitchFamily="34" charset="-122"/>
                <a:cs typeface="Calibri" pitchFamily="34" charset="-120"/>
              </a:rPr>
              <a:t>Restores previous state from Undo Stack</a:t>
            </a:r>
            <a:endParaRPr lang="en-US" sz="1300" dirty="0"/>
          </a:p>
        </p:txBody>
      </p:sp>
      <p:sp>
        <p:nvSpPr>
          <p:cNvPr id="12" name="Text 9"/>
          <p:cNvSpPr/>
          <p:nvPr/>
        </p:nvSpPr>
        <p:spPr>
          <a:xfrm>
            <a:off x="640080" y="3557016"/>
            <a:ext cx="2286000" cy="457200"/>
          </a:xfrm>
          <a:prstGeom prst="rect">
            <a:avLst/>
          </a:prstGeom>
          <a:noFill/>
          <a:ln/>
        </p:spPr>
        <p:txBody>
          <a:bodyPr wrap="square" rtlCol="0" anchor="ctr"/>
          <a:lstStyle/>
          <a:p>
            <a:pPr indent="0" marL="0">
              <a:buNone/>
            </a:pPr>
            <a:r>
              <a:rPr lang="en-US" sz="1400" b="1" dirty="0">
                <a:solidFill>
                  <a:srgbClr val="02C39A"/>
                </a:solidFill>
                <a:latin typeface="Courier New" pitchFamily="34" charset="0"/>
                <a:ea typeface="Courier New" pitchFamily="34" charset="-122"/>
                <a:cs typeface="Courier New" pitchFamily="34" charset="-120"/>
              </a:rPr>
              <a:t>redo()</a:t>
            </a:r>
            <a:endParaRPr lang="en-US" sz="1400" dirty="0"/>
          </a:p>
        </p:txBody>
      </p:sp>
      <p:sp>
        <p:nvSpPr>
          <p:cNvPr id="13" name="Text 10"/>
          <p:cNvSpPr/>
          <p:nvPr/>
        </p:nvSpPr>
        <p:spPr>
          <a:xfrm>
            <a:off x="3017520" y="3557016"/>
            <a:ext cx="5577840" cy="457200"/>
          </a:xfrm>
          <a:prstGeom prst="rect">
            <a:avLst/>
          </a:prstGeom>
          <a:noFill/>
          <a:ln/>
        </p:spPr>
        <p:txBody>
          <a:bodyPr wrap="square" rtlCol="0" anchor="ctr"/>
          <a:lstStyle/>
          <a:p>
            <a:pPr indent="0" marL="0">
              <a:buNone/>
            </a:pPr>
            <a:r>
              <a:rPr lang="en-US" sz="1300" dirty="0">
                <a:solidFill>
                  <a:srgbClr val="D8F3EF"/>
                </a:solidFill>
                <a:latin typeface="Calibri" pitchFamily="34" charset="0"/>
                <a:ea typeface="Calibri" pitchFamily="34" charset="-122"/>
                <a:cs typeface="Calibri" pitchFamily="34" charset="-120"/>
              </a:rPr>
              <a:t>Restores undone state from Redo Stack</a:t>
            </a:r>
            <a:endParaRPr lang="en-US" sz="1300" dirty="0"/>
          </a:p>
        </p:txBody>
      </p:sp>
      <p:sp>
        <p:nvSpPr>
          <p:cNvPr id="14" name="Text 11"/>
          <p:cNvSpPr/>
          <p:nvPr/>
        </p:nvSpPr>
        <p:spPr>
          <a:xfrm>
            <a:off x="640080" y="4087368"/>
            <a:ext cx="2286000" cy="457200"/>
          </a:xfrm>
          <a:prstGeom prst="rect">
            <a:avLst/>
          </a:prstGeom>
          <a:noFill/>
          <a:ln/>
        </p:spPr>
        <p:txBody>
          <a:bodyPr wrap="square" rtlCol="0" anchor="ctr"/>
          <a:lstStyle/>
          <a:p>
            <a:pPr indent="0" marL="0">
              <a:buNone/>
            </a:pPr>
            <a:r>
              <a:rPr lang="en-US" sz="1400" b="1" dirty="0">
                <a:solidFill>
                  <a:srgbClr val="02C39A"/>
                </a:solidFill>
                <a:latin typeface="Courier New" pitchFamily="34" charset="0"/>
                <a:ea typeface="Courier New" pitchFamily="34" charset="-122"/>
                <a:cs typeface="Courier New" pitchFamily="34" charset="-120"/>
              </a:rPr>
              <a:t>display()</a:t>
            </a:r>
            <a:endParaRPr lang="en-US" sz="1400" dirty="0"/>
          </a:p>
        </p:txBody>
      </p:sp>
      <p:sp>
        <p:nvSpPr>
          <p:cNvPr id="15" name="Text 12"/>
          <p:cNvSpPr/>
          <p:nvPr/>
        </p:nvSpPr>
        <p:spPr>
          <a:xfrm>
            <a:off x="3017520" y="4087368"/>
            <a:ext cx="5577840" cy="457200"/>
          </a:xfrm>
          <a:prstGeom prst="rect">
            <a:avLst/>
          </a:prstGeom>
          <a:noFill/>
          <a:ln/>
        </p:spPr>
        <p:txBody>
          <a:bodyPr wrap="square" rtlCol="0" anchor="ctr"/>
          <a:lstStyle/>
          <a:p>
            <a:pPr indent="0" marL="0">
              <a:buNone/>
            </a:pPr>
            <a:r>
              <a:rPr lang="en-US" sz="1300" dirty="0">
                <a:solidFill>
                  <a:srgbClr val="D8F3EF"/>
                </a:solidFill>
                <a:latin typeface="Calibri" pitchFamily="34" charset="0"/>
                <a:ea typeface="Calibri" pitchFamily="34" charset="-122"/>
                <a:cs typeface="Calibri" pitchFamily="34" charset="-120"/>
              </a:rPr>
              <a:t>Prints the current text to the console</a:t>
            </a:r>
            <a:endParaRPr lang="en-US" sz="1300" dirty="0"/>
          </a:p>
        </p:txBody>
      </p:sp>
      <p:sp>
        <p:nvSpPr>
          <p:cNvPr id="16" name="Text 13"/>
          <p:cNvSpPr/>
          <p:nvPr/>
        </p:nvSpPr>
        <p:spPr>
          <a:xfrm>
            <a:off x="640080" y="4617720"/>
            <a:ext cx="7863840" cy="365760"/>
          </a:xfrm>
          <a:prstGeom prst="rect">
            <a:avLst/>
          </a:prstGeom>
          <a:noFill/>
          <a:ln/>
        </p:spPr>
        <p:txBody>
          <a:bodyPr wrap="square" rtlCol="0" anchor="ctr"/>
          <a:lstStyle/>
          <a:p>
            <a:pPr indent="0" marL="0">
              <a:buNone/>
            </a:pPr>
            <a:r>
              <a:rPr lang="en-US" sz="1250" i="1" dirty="0">
                <a:solidFill>
                  <a:srgbClr val="8FD4CC"/>
                </a:solidFill>
                <a:latin typeface="Calibri" pitchFamily="34" charset="0"/>
                <a:ea typeface="Calibri" pitchFamily="34" charset="-122"/>
                <a:cs typeface="Calibri" pitchFamily="34" charset="-120"/>
              </a:rPr>
              <a:t>main() uses a do-while loop with a switch statement to run the menu until Exit is chosen.</a:t>
            </a:r>
            <a:endParaRPr lang="en-US" sz="1250" dirty="0"/>
          </a:p>
        </p:txBody>
      </p:sp>
      <p:sp>
        <p:nvSpPr>
          <p:cNvPr id="17" name="Text 14"/>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C2B2B"/>
                </a:solidFill>
                <a:latin typeface="Cambria" pitchFamily="34" charset="0"/>
                <a:ea typeface="Cambria" pitchFamily="34" charset="-122"/>
                <a:cs typeface="Cambria" pitchFamily="34" charset="-120"/>
              </a:rPr>
              <a:t>Sample Output</a:t>
            </a:r>
            <a:endParaRPr lang="en-US" sz="3000" dirty="0"/>
          </a:p>
        </p:txBody>
      </p:sp>
      <p:sp>
        <p:nvSpPr>
          <p:cNvPr id="3" name="Shape 1"/>
          <p:cNvSpPr/>
          <p:nvPr/>
        </p:nvSpPr>
        <p:spPr>
          <a:xfrm>
            <a:off x="548640" y="1371600"/>
            <a:ext cx="548640" cy="54864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619963" y="1442923"/>
            <a:ext cx="405994" cy="405994"/>
          </a:xfrm>
          <a:prstGeom prst="rect">
            <a:avLst/>
          </a:prstGeom>
        </p:spPr>
      </p:pic>
      <p:sp>
        <p:nvSpPr>
          <p:cNvPr id="5" name="Shape 2"/>
          <p:cNvSpPr/>
          <p:nvPr/>
        </p:nvSpPr>
        <p:spPr>
          <a:xfrm>
            <a:off x="1325880" y="1325880"/>
            <a:ext cx="7223760" cy="3246120"/>
          </a:xfrm>
          <a:prstGeom prst="roundRect">
            <a:avLst>
              <a:gd name="adj" fmla="val 1408"/>
            </a:avLst>
          </a:prstGeom>
          <a:solidFill>
            <a:srgbClr val="1E1E1E"/>
          </a:solidFill>
          <a:ln/>
        </p:spPr>
      </p:sp>
      <p:sp>
        <p:nvSpPr>
          <p:cNvPr id="6" name="Text 3"/>
          <p:cNvSpPr/>
          <p:nvPr/>
        </p:nvSpPr>
        <p:spPr>
          <a:xfrm>
            <a:off x="1508760" y="1463040"/>
            <a:ext cx="6858000" cy="3017520"/>
          </a:xfrm>
          <a:prstGeom prst="rect">
            <a:avLst/>
          </a:prstGeom>
          <a:noFill/>
          <a:ln/>
        </p:spPr>
        <p:txBody>
          <a:bodyPr wrap="square" rtlCol="0" anchor="t"/>
          <a:lstStyle/>
          <a:p>
            <a:pPr indent="0" marL="0">
              <a:buNone/>
            </a:pPr>
            <a:r>
              <a:rPr lang="en-US" sz="1250" dirty="0">
                <a:solidFill>
                  <a:srgbClr val="6FE3C4"/>
                </a:solidFill>
                <a:latin typeface="Courier New" pitchFamily="34" charset="0"/>
                <a:ea typeface="Courier New" pitchFamily="34" charset="-122"/>
                <a:cs typeface="Courier New" pitchFamily="34" charset="-120"/>
              </a:rPr>
              <a:t>Enter your choice (1-6): 1</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Enter text to add: Hello World</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Text added successfully.</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Enter your choice (1-6): 3</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Undo successful.</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Enter your choice (1-6): 2</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Current Text: Hello</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Enter your choice (1-6): 4</a:t>
            </a:r>
            <a:endParaRPr lang="en-US" sz="1250" dirty="0"/>
          </a:p>
          <a:p>
            <a:pPr indent="0" marL="0">
              <a:buNone/>
            </a:pPr>
            <a:r>
              <a:rPr lang="en-US" sz="1250" dirty="0">
                <a:solidFill>
                  <a:srgbClr val="6FE3C4"/>
                </a:solidFill>
                <a:latin typeface="Courier New" pitchFamily="34" charset="0"/>
                <a:ea typeface="Courier New" pitchFamily="34" charset="-122"/>
                <a:cs typeface="Courier New" pitchFamily="34" charset="-120"/>
              </a:rPr>
              <a:t>Redo successful.</a:t>
            </a:r>
            <a:endParaRPr lang="en-US" sz="1250" dirty="0"/>
          </a:p>
        </p:txBody>
      </p:sp>
      <p:sp>
        <p:nvSpPr>
          <p:cNvPr id="7" name="Text 4"/>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1097280" y="-1097280"/>
            <a:ext cx="3291840" cy="3291840"/>
          </a:xfrm>
          <a:prstGeom prst="ellipse">
            <a:avLst/>
          </a:prstGeom>
          <a:solidFill>
            <a:srgbClr val="028090">
              <a:alpha val="45000"/>
            </a:srgbClr>
          </a:solidFill>
          <a:ln/>
        </p:spPr>
      </p:sp>
      <p:sp>
        <p:nvSpPr>
          <p:cNvPr id="3" name="Shape 1"/>
          <p:cNvSpPr/>
          <p:nvPr/>
        </p:nvSpPr>
        <p:spPr>
          <a:xfrm>
            <a:off x="7498080" y="2926080"/>
            <a:ext cx="2926080" cy="2926080"/>
          </a:xfrm>
          <a:prstGeom prst="ellipse">
            <a:avLst/>
          </a:prstGeom>
          <a:solidFill>
            <a:srgbClr val="00A896">
              <a:alpha val="40000"/>
            </a:srgbClr>
          </a:solidFill>
          <a:ln/>
        </p:spPr>
      </p:sp>
      <p:sp>
        <p:nvSpPr>
          <p:cNvPr id="4" name="Shape 2"/>
          <p:cNvSpPr/>
          <p:nvPr/>
        </p:nvSpPr>
        <p:spPr>
          <a:xfrm>
            <a:off x="4114800" y="502920"/>
            <a:ext cx="914400" cy="914400"/>
          </a:xfrm>
          <a:prstGeom prst="ellipse">
            <a:avLst/>
          </a:prstGeom>
          <a:solidFill>
            <a:srgbClr val="02C39A"/>
          </a:solidFill>
          <a:ln/>
        </p:spPr>
      </p:sp>
      <p:pic>
        <p:nvPicPr>
          <p:cNvPr id="5" name="Image 0" descr="preencoded.png">    </p:cNvPr>
          <p:cNvPicPr>
            <a:picLocks noChangeAspect="1"/>
          </p:cNvPicPr>
          <p:nvPr/>
        </p:nvPicPr>
        <p:blipFill>
          <a:blip r:embed="rId1"/>
          <a:stretch>
            <a:fillRect/>
          </a:stretch>
        </p:blipFill>
        <p:spPr>
          <a:xfrm>
            <a:off x="4233672" y="621792"/>
            <a:ext cx="676656" cy="676656"/>
          </a:xfrm>
          <a:prstGeom prst="rect">
            <a:avLst/>
          </a:prstGeom>
        </p:spPr>
      </p:pic>
      <p:sp>
        <p:nvSpPr>
          <p:cNvPr id="6" name="Text 3"/>
          <p:cNvSpPr/>
          <p:nvPr/>
        </p:nvSpPr>
        <p:spPr>
          <a:xfrm>
            <a:off x="548640" y="1508760"/>
            <a:ext cx="80467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7" name="Text 4"/>
          <p:cNvSpPr/>
          <p:nvPr/>
        </p:nvSpPr>
        <p:spPr>
          <a:xfrm>
            <a:off x="1097280" y="2148840"/>
            <a:ext cx="6949440" cy="1188720"/>
          </a:xfrm>
          <a:prstGeom prst="rect">
            <a:avLst/>
          </a:prstGeom>
          <a:noFill/>
          <a:ln/>
        </p:spPr>
        <p:txBody>
          <a:bodyPr wrap="square" rtlCol="0" anchor="t"/>
          <a:lstStyle/>
          <a:p>
            <a:pPr algn="ctr" indent="0" marL="0">
              <a:buNone/>
            </a:pPr>
            <a:r>
              <a:rPr lang="en-US" sz="1500" dirty="0">
                <a:solidFill>
                  <a:srgbClr val="D8F3EF"/>
                </a:solidFill>
                <a:latin typeface="Calibri" pitchFamily="34" charset="0"/>
                <a:ea typeface="Calibri" pitchFamily="34" charset="-122"/>
                <a:cs typeface="Calibri" pitchFamily="34" charset="-120"/>
              </a:rPr>
              <a:t>This project successfully shows how two stacks can implement Undo and Redo in a text editor. It reinforces LIFO logic, STL stack usage, and modular C++ design through a simple, classroom-friendly example.</a:t>
            </a:r>
            <a:endParaRPr lang="en-US" sz="1500" dirty="0"/>
          </a:p>
        </p:txBody>
      </p:sp>
      <p:sp>
        <p:nvSpPr>
          <p:cNvPr id="8" name="Text 5"/>
          <p:cNvSpPr/>
          <p:nvPr/>
        </p:nvSpPr>
        <p:spPr>
          <a:xfrm>
            <a:off x="548640" y="3703320"/>
            <a:ext cx="8046720" cy="548640"/>
          </a:xfrm>
          <a:prstGeom prst="rect">
            <a:avLst/>
          </a:prstGeom>
          <a:noFill/>
          <a:ln/>
        </p:spPr>
        <p:txBody>
          <a:bodyPr wrap="square" lIns="0" tIns="0" rIns="0" bIns="0" rtlCol="0" anchor="ctr"/>
          <a:lstStyle/>
          <a:p>
            <a:pPr algn="ctr" indent="0" marL="0">
              <a:buNone/>
            </a:pPr>
            <a:r>
              <a:rPr lang="en-US" sz="2200" b="1" dirty="0">
                <a:solidFill>
                  <a:srgbClr val="02C39A"/>
                </a:solidFill>
                <a:latin typeface="Cambria" pitchFamily="34" charset="0"/>
                <a:ea typeface="Cambria" pitchFamily="34" charset="-122"/>
                <a:cs typeface="Cambria" pitchFamily="34" charset="-120"/>
              </a:rPr>
              <a:t>Thank You</a:t>
            </a:r>
            <a:endParaRPr lang="en-US" sz="2200" dirty="0"/>
          </a:p>
        </p:txBody>
      </p:sp>
      <p:sp>
        <p:nvSpPr>
          <p:cNvPr id="9" name="Text 6"/>
          <p:cNvSpPr/>
          <p:nvPr/>
        </p:nvSpPr>
        <p:spPr>
          <a:xfrm>
            <a:off x="8549640" y="4828032"/>
            <a:ext cx="457200" cy="274320"/>
          </a:xfrm>
          <a:prstGeom prst="rect">
            <a:avLst/>
          </a:prstGeom>
          <a:noFill/>
          <a:ln/>
        </p:spPr>
        <p:txBody>
          <a:bodyPr wrap="square" rtlCol="0" anchor="ctr"/>
          <a:lstStyle/>
          <a:p>
            <a:pPr algn="r" indent="0" marL="0">
              <a:buNone/>
            </a:pPr>
            <a:r>
              <a:rPr lang="en-US" sz="1100" dirty="0">
                <a:solidFill>
                  <a:srgbClr val="5B6E6E"/>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Undo and Redo Text Editor</dc:title>
  <dc:subject>PptxGenJS Presentation</dc:subject>
  <dc:creator>Student</dc:creator>
  <cp:lastModifiedBy>Student</cp:lastModifiedBy>
  <cp:revision>1</cp:revision>
  <dcterms:created xsi:type="dcterms:W3CDTF">2026-07-09T03:54:19Z</dcterms:created>
  <dcterms:modified xsi:type="dcterms:W3CDTF">2026-07-09T03:54:19Z</dcterms:modified>
</cp:coreProperties>
</file>